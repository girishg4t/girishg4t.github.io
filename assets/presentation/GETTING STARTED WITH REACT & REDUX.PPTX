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1"/>
  </p:sldMasterIdLst>
  <p:sldIdLst>
    <p:sldId id="256" r:id="rId2"/>
    <p:sldId id="257" r:id="rId3"/>
    <p:sldId id="259" r:id="rId4"/>
    <p:sldId id="258"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3" r:id="rId18"/>
    <p:sldId id="274" r:id="rId19"/>
    <p:sldId id="275" r:id="rId20"/>
    <p:sldId id="276" r:id="rId21"/>
    <p:sldId id="277" r:id="rId22"/>
    <p:sldId id="272"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6C20318-8067-486D-B27A-646BB00BFE5B}">
          <p14:sldIdLst>
            <p14:sldId id="256"/>
            <p14:sldId id="257"/>
            <p14:sldId id="259"/>
            <p14:sldId id="258"/>
            <p14:sldId id="260"/>
            <p14:sldId id="261"/>
            <p14:sldId id="262"/>
            <p14:sldId id="263"/>
            <p14:sldId id="264"/>
            <p14:sldId id="265"/>
            <p14:sldId id="266"/>
            <p14:sldId id="267"/>
            <p14:sldId id="268"/>
            <p14:sldId id="269"/>
            <p14:sldId id="270"/>
            <p14:sldId id="271"/>
            <p14:sldId id="273"/>
            <p14:sldId id="274"/>
            <p14:sldId id="275"/>
            <p14:sldId id="276"/>
            <p14:sldId id="277"/>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420" autoAdjust="0"/>
    <p:restoredTop sz="94660"/>
  </p:normalViewPr>
  <p:slideViewPr>
    <p:cSldViewPr snapToGrid="0">
      <p:cViewPr varScale="1">
        <p:scale>
          <a:sx n="114" d="100"/>
          <a:sy n="114" d="100"/>
        </p:scale>
        <p:origin x="50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D65E27-F447-47BC-9A5F-A98CEE68B82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8BD6BF7-8EB8-40EF-9133-FFC71F9B2BC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8E34043-6DD9-4B65-8866-9CD0A1B05775}"/>
              </a:ext>
            </a:extLst>
          </p:cNvPr>
          <p:cNvSpPr>
            <a:spLocks noGrp="1"/>
          </p:cNvSpPr>
          <p:nvPr>
            <p:ph type="dt" sz="half" idx="10"/>
          </p:nvPr>
        </p:nvSpPr>
        <p:spPr/>
        <p:txBody>
          <a:bodyPr/>
          <a:lstStyle/>
          <a:p>
            <a:fld id="{D24518FE-899A-40D9-864C-7AF592D865A9}" type="datetimeFigureOut">
              <a:rPr lang="en-IN" smtClean="0"/>
              <a:t>29-01-2018</a:t>
            </a:fld>
            <a:endParaRPr lang="en-IN"/>
          </a:p>
        </p:txBody>
      </p:sp>
      <p:sp>
        <p:nvSpPr>
          <p:cNvPr id="5" name="Footer Placeholder 4">
            <a:extLst>
              <a:ext uri="{FF2B5EF4-FFF2-40B4-BE49-F238E27FC236}">
                <a16:creationId xmlns:a16="http://schemas.microsoft.com/office/drawing/2014/main" id="{A373EE17-AAC6-4340-A6C3-2419AC173E3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563A82D-FA23-46FD-8068-09BF99FEB8F5}"/>
              </a:ext>
            </a:extLst>
          </p:cNvPr>
          <p:cNvSpPr>
            <a:spLocks noGrp="1"/>
          </p:cNvSpPr>
          <p:nvPr>
            <p:ph type="sldNum" sz="quarter" idx="12"/>
          </p:nvPr>
        </p:nvSpPr>
        <p:spPr/>
        <p:txBody>
          <a:bodyPr/>
          <a:lstStyle/>
          <a:p>
            <a:fld id="{615F47F6-55ED-4C61-A1E2-5939A039B7C8}" type="slidenum">
              <a:rPr lang="en-IN" smtClean="0"/>
              <a:t>‹#›</a:t>
            </a:fld>
            <a:endParaRPr lang="en-IN"/>
          </a:p>
        </p:txBody>
      </p:sp>
    </p:spTree>
    <p:extLst>
      <p:ext uri="{BB962C8B-B14F-4D97-AF65-F5344CB8AC3E}">
        <p14:creationId xmlns:p14="http://schemas.microsoft.com/office/powerpoint/2010/main" val="7998213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48CAA-190B-4686-A976-B56CB054DEB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9808CF8-817B-483D-969F-DEDB9502F282}"/>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592CA2D-AC0A-4E32-8361-114B3541EFF5}"/>
              </a:ext>
            </a:extLst>
          </p:cNvPr>
          <p:cNvSpPr>
            <a:spLocks noGrp="1"/>
          </p:cNvSpPr>
          <p:nvPr>
            <p:ph type="dt" sz="half" idx="10"/>
          </p:nvPr>
        </p:nvSpPr>
        <p:spPr/>
        <p:txBody>
          <a:bodyPr/>
          <a:lstStyle/>
          <a:p>
            <a:fld id="{D24518FE-899A-40D9-864C-7AF592D865A9}" type="datetimeFigureOut">
              <a:rPr lang="en-IN" smtClean="0"/>
              <a:t>29-01-2018</a:t>
            </a:fld>
            <a:endParaRPr lang="en-IN"/>
          </a:p>
        </p:txBody>
      </p:sp>
      <p:sp>
        <p:nvSpPr>
          <p:cNvPr id="5" name="Footer Placeholder 4">
            <a:extLst>
              <a:ext uri="{FF2B5EF4-FFF2-40B4-BE49-F238E27FC236}">
                <a16:creationId xmlns:a16="http://schemas.microsoft.com/office/drawing/2014/main" id="{7E70C48A-664D-4E9D-9F92-982EA3E75D6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CEDA538-ABDD-46DC-A629-AF457EB11945}"/>
              </a:ext>
            </a:extLst>
          </p:cNvPr>
          <p:cNvSpPr>
            <a:spLocks noGrp="1"/>
          </p:cNvSpPr>
          <p:nvPr>
            <p:ph type="sldNum" sz="quarter" idx="12"/>
          </p:nvPr>
        </p:nvSpPr>
        <p:spPr/>
        <p:txBody>
          <a:bodyPr/>
          <a:lstStyle/>
          <a:p>
            <a:fld id="{615F47F6-55ED-4C61-A1E2-5939A039B7C8}" type="slidenum">
              <a:rPr lang="en-IN" smtClean="0"/>
              <a:t>‹#›</a:t>
            </a:fld>
            <a:endParaRPr lang="en-IN"/>
          </a:p>
        </p:txBody>
      </p:sp>
    </p:spTree>
    <p:extLst>
      <p:ext uri="{BB962C8B-B14F-4D97-AF65-F5344CB8AC3E}">
        <p14:creationId xmlns:p14="http://schemas.microsoft.com/office/powerpoint/2010/main" val="42266803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CC99E8-6774-4E21-BBDD-E45126D4EB6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7A57939-A81C-4050-BEA5-40D8D1EA6BA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5EB1E567-B54E-4550-8EDB-92DBEF65F444}"/>
              </a:ext>
            </a:extLst>
          </p:cNvPr>
          <p:cNvSpPr>
            <a:spLocks noGrp="1"/>
          </p:cNvSpPr>
          <p:nvPr>
            <p:ph type="dt" sz="half" idx="10"/>
          </p:nvPr>
        </p:nvSpPr>
        <p:spPr/>
        <p:txBody>
          <a:bodyPr/>
          <a:lstStyle/>
          <a:p>
            <a:fld id="{D24518FE-899A-40D9-864C-7AF592D865A9}" type="datetimeFigureOut">
              <a:rPr lang="en-IN" smtClean="0"/>
              <a:t>29-01-2018</a:t>
            </a:fld>
            <a:endParaRPr lang="en-IN"/>
          </a:p>
        </p:txBody>
      </p:sp>
      <p:sp>
        <p:nvSpPr>
          <p:cNvPr id="5" name="Footer Placeholder 4">
            <a:extLst>
              <a:ext uri="{FF2B5EF4-FFF2-40B4-BE49-F238E27FC236}">
                <a16:creationId xmlns:a16="http://schemas.microsoft.com/office/drawing/2014/main" id="{2D7239DE-B7D8-4B43-A0ED-61978238377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9CBBD13-362F-423C-9369-1744D07F509A}"/>
              </a:ext>
            </a:extLst>
          </p:cNvPr>
          <p:cNvSpPr>
            <a:spLocks noGrp="1"/>
          </p:cNvSpPr>
          <p:nvPr>
            <p:ph type="sldNum" sz="quarter" idx="12"/>
          </p:nvPr>
        </p:nvSpPr>
        <p:spPr/>
        <p:txBody>
          <a:bodyPr/>
          <a:lstStyle/>
          <a:p>
            <a:fld id="{615F47F6-55ED-4C61-A1E2-5939A039B7C8}" type="slidenum">
              <a:rPr lang="en-IN" smtClean="0"/>
              <a:t>‹#›</a:t>
            </a:fld>
            <a:endParaRPr lang="en-IN"/>
          </a:p>
        </p:txBody>
      </p:sp>
    </p:spTree>
    <p:extLst>
      <p:ext uri="{BB962C8B-B14F-4D97-AF65-F5344CB8AC3E}">
        <p14:creationId xmlns:p14="http://schemas.microsoft.com/office/powerpoint/2010/main" val="37925642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047B9-E202-46ED-853A-EBFC3C7D8C6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FE6C343-5587-4955-BF75-576F6B06EAB8}"/>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E493418-BC24-4C11-A66D-94529FE4574D}"/>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EBD2416-B2CB-4EC8-9034-F200E603CAF6}"/>
              </a:ext>
            </a:extLst>
          </p:cNvPr>
          <p:cNvSpPr>
            <a:spLocks noGrp="1"/>
          </p:cNvSpPr>
          <p:nvPr>
            <p:ph type="dt" sz="half" idx="10"/>
          </p:nvPr>
        </p:nvSpPr>
        <p:spPr/>
        <p:txBody>
          <a:bodyPr/>
          <a:lstStyle/>
          <a:p>
            <a:fld id="{D24518FE-899A-40D9-864C-7AF592D865A9}" type="datetimeFigureOut">
              <a:rPr lang="en-IN" smtClean="0"/>
              <a:t>29-01-2018</a:t>
            </a:fld>
            <a:endParaRPr lang="en-IN"/>
          </a:p>
        </p:txBody>
      </p:sp>
      <p:sp>
        <p:nvSpPr>
          <p:cNvPr id="6" name="Footer Placeholder 5">
            <a:extLst>
              <a:ext uri="{FF2B5EF4-FFF2-40B4-BE49-F238E27FC236}">
                <a16:creationId xmlns:a16="http://schemas.microsoft.com/office/drawing/2014/main" id="{E01E23C3-BFD7-4350-90D0-E56F66989A9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93BB80F-6588-418B-AEC2-2E8ADECB2426}"/>
              </a:ext>
            </a:extLst>
          </p:cNvPr>
          <p:cNvSpPr>
            <a:spLocks noGrp="1"/>
          </p:cNvSpPr>
          <p:nvPr>
            <p:ph type="sldNum" sz="quarter" idx="12"/>
          </p:nvPr>
        </p:nvSpPr>
        <p:spPr/>
        <p:txBody>
          <a:bodyPr/>
          <a:lstStyle/>
          <a:p>
            <a:fld id="{615F47F6-55ED-4C61-A1E2-5939A039B7C8}" type="slidenum">
              <a:rPr lang="en-IN" smtClean="0"/>
              <a:t>‹#›</a:t>
            </a:fld>
            <a:endParaRPr lang="en-IN"/>
          </a:p>
        </p:txBody>
      </p:sp>
    </p:spTree>
    <p:extLst>
      <p:ext uri="{BB962C8B-B14F-4D97-AF65-F5344CB8AC3E}">
        <p14:creationId xmlns:p14="http://schemas.microsoft.com/office/powerpoint/2010/main" val="17902170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9BFE96-7BAE-42BB-A77E-2ED8C04C557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EE261FF-BF73-4F2D-926F-E0B63683EB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5DA6C310-FF49-4DA2-8188-6842CDC689F6}"/>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25FACA8-C331-4D9F-8FD8-8A9A5410887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38676B74-E909-4862-B53A-A8938DE1DF21}"/>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F71FA8D-550E-40B3-ACBA-14E5AD282832}"/>
              </a:ext>
            </a:extLst>
          </p:cNvPr>
          <p:cNvSpPr>
            <a:spLocks noGrp="1"/>
          </p:cNvSpPr>
          <p:nvPr>
            <p:ph type="dt" sz="half" idx="10"/>
          </p:nvPr>
        </p:nvSpPr>
        <p:spPr/>
        <p:txBody>
          <a:bodyPr/>
          <a:lstStyle/>
          <a:p>
            <a:fld id="{D24518FE-899A-40D9-864C-7AF592D865A9}" type="datetimeFigureOut">
              <a:rPr lang="en-IN" smtClean="0"/>
              <a:t>29-01-2018</a:t>
            </a:fld>
            <a:endParaRPr lang="en-IN"/>
          </a:p>
        </p:txBody>
      </p:sp>
      <p:sp>
        <p:nvSpPr>
          <p:cNvPr id="8" name="Footer Placeholder 7">
            <a:extLst>
              <a:ext uri="{FF2B5EF4-FFF2-40B4-BE49-F238E27FC236}">
                <a16:creationId xmlns:a16="http://schemas.microsoft.com/office/drawing/2014/main" id="{D2774CBD-EB12-4398-8C91-4AB32CD4790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4732F87-C3ED-441C-A4AE-31A1EA5F0B3D}"/>
              </a:ext>
            </a:extLst>
          </p:cNvPr>
          <p:cNvSpPr>
            <a:spLocks noGrp="1"/>
          </p:cNvSpPr>
          <p:nvPr>
            <p:ph type="sldNum" sz="quarter" idx="12"/>
          </p:nvPr>
        </p:nvSpPr>
        <p:spPr/>
        <p:txBody>
          <a:bodyPr/>
          <a:lstStyle/>
          <a:p>
            <a:fld id="{615F47F6-55ED-4C61-A1E2-5939A039B7C8}" type="slidenum">
              <a:rPr lang="en-IN" smtClean="0"/>
              <a:t>‹#›</a:t>
            </a:fld>
            <a:endParaRPr lang="en-IN"/>
          </a:p>
        </p:txBody>
      </p:sp>
    </p:spTree>
    <p:extLst>
      <p:ext uri="{BB962C8B-B14F-4D97-AF65-F5344CB8AC3E}">
        <p14:creationId xmlns:p14="http://schemas.microsoft.com/office/powerpoint/2010/main" val="3631048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64F6E-CB54-45CB-B398-7FD30CFD9AB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85D9BE5-986D-4D19-9820-68993B279A96}"/>
              </a:ext>
            </a:extLst>
          </p:cNvPr>
          <p:cNvSpPr>
            <a:spLocks noGrp="1"/>
          </p:cNvSpPr>
          <p:nvPr>
            <p:ph type="dt" sz="half" idx="10"/>
          </p:nvPr>
        </p:nvSpPr>
        <p:spPr/>
        <p:txBody>
          <a:bodyPr/>
          <a:lstStyle/>
          <a:p>
            <a:fld id="{D24518FE-899A-40D9-864C-7AF592D865A9}" type="datetimeFigureOut">
              <a:rPr lang="en-IN" smtClean="0"/>
              <a:t>29-01-2018</a:t>
            </a:fld>
            <a:endParaRPr lang="en-IN"/>
          </a:p>
        </p:txBody>
      </p:sp>
      <p:sp>
        <p:nvSpPr>
          <p:cNvPr id="4" name="Footer Placeholder 3">
            <a:extLst>
              <a:ext uri="{FF2B5EF4-FFF2-40B4-BE49-F238E27FC236}">
                <a16:creationId xmlns:a16="http://schemas.microsoft.com/office/drawing/2014/main" id="{BEDA02A2-6B42-4984-BE8A-51C52D7896A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28B03D1-F4B5-4031-AE5A-214D08B28B2B}"/>
              </a:ext>
            </a:extLst>
          </p:cNvPr>
          <p:cNvSpPr>
            <a:spLocks noGrp="1"/>
          </p:cNvSpPr>
          <p:nvPr>
            <p:ph type="sldNum" sz="quarter" idx="12"/>
          </p:nvPr>
        </p:nvSpPr>
        <p:spPr/>
        <p:txBody>
          <a:bodyPr/>
          <a:lstStyle/>
          <a:p>
            <a:fld id="{615F47F6-55ED-4C61-A1E2-5939A039B7C8}" type="slidenum">
              <a:rPr lang="en-IN" smtClean="0"/>
              <a:t>‹#›</a:t>
            </a:fld>
            <a:endParaRPr lang="en-IN"/>
          </a:p>
        </p:txBody>
      </p:sp>
    </p:spTree>
    <p:extLst>
      <p:ext uri="{BB962C8B-B14F-4D97-AF65-F5344CB8AC3E}">
        <p14:creationId xmlns:p14="http://schemas.microsoft.com/office/powerpoint/2010/main" val="40668287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CA035F8-DE16-43A8-A677-5906BB454D7D}"/>
              </a:ext>
            </a:extLst>
          </p:cNvPr>
          <p:cNvSpPr>
            <a:spLocks noGrp="1"/>
          </p:cNvSpPr>
          <p:nvPr>
            <p:ph type="dt" sz="half" idx="10"/>
          </p:nvPr>
        </p:nvSpPr>
        <p:spPr/>
        <p:txBody>
          <a:bodyPr/>
          <a:lstStyle/>
          <a:p>
            <a:fld id="{D24518FE-899A-40D9-864C-7AF592D865A9}" type="datetimeFigureOut">
              <a:rPr lang="en-IN" smtClean="0"/>
              <a:t>29-01-2018</a:t>
            </a:fld>
            <a:endParaRPr lang="en-IN"/>
          </a:p>
        </p:txBody>
      </p:sp>
      <p:sp>
        <p:nvSpPr>
          <p:cNvPr id="3" name="Footer Placeholder 2">
            <a:extLst>
              <a:ext uri="{FF2B5EF4-FFF2-40B4-BE49-F238E27FC236}">
                <a16:creationId xmlns:a16="http://schemas.microsoft.com/office/drawing/2014/main" id="{6B02ED8D-10EF-4AEA-AF71-D4A64CC15DD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5736506-5130-4D95-841A-9F3679FC0A93}"/>
              </a:ext>
            </a:extLst>
          </p:cNvPr>
          <p:cNvSpPr>
            <a:spLocks noGrp="1"/>
          </p:cNvSpPr>
          <p:nvPr>
            <p:ph type="sldNum" sz="quarter" idx="12"/>
          </p:nvPr>
        </p:nvSpPr>
        <p:spPr/>
        <p:txBody>
          <a:bodyPr/>
          <a:lstStyle/>
          <a:p>
            <a:fld id="{615F47F6-55ED-4C61-A1E2-5939A039B7C8}" type="slidenum">
              <a:rPr lang="en-IN" smtClean="0"/>
              <a:t>‹#›</a:t>
            </a:fld>
            <a:endParaRPr lang="en-IN"/>
          </a:p>
        </p:txBody>
      </p:sp>
    </p:spTree>
    <p:extLst>
      <p:ext uri="{BB962C8B-B14F-4D97-AF65-F5344CB8AC3E}">
        <p14:creationId xmlns:p14="http://schemas.microsoft.com/office/powerpoint/2010/main" val="30080212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FD601-B023-492E-B9B3-3441EE8A417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5687E94-F8D7-4E37-8CBD-2A55F083AD5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41A1818-42CF-4C46-B037-E54E745EE1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1DD9B9BF-16A2-44E9-A00D-979AFD3949F7}"/>
              </a:ext>
            </a:extLst>
          </p:cNvPr>
          <p:cNvSpPr>
            <a:spLocks noGrp="1"/>
          </p:cNvSpPr>
          <p:nvPr>
            <p:ph type="dt" sz="half" idx="10"/>
          </p:nvPr>
        </p:nvSpPr>
        <p:spPr/>
        <p:txBody>
          <a:bodyPr/>
          <a:lstStyle/>
          <a:p>
            <a:fld id="{D24518FE-899A-40D9-864C-7AF592D865A9}" type="datetimeFigureOut">
              <a:rPr lang="en-IN" smtClean="0"/>
              <a:t>29-01-2018</a:t>
            </a:fld>
            <a:endParaRPr lang="en-IN"/>
          </a:p>
        </p:txBody>
      </p:sp>
      <p:sp>
        <p:nvSpPr>
          <p:cNvPr id="6" name="Footer Placeholder 5">
            <a:extLst>
              <a:ext uri="{FF2B5EF4-FFF2-40B4-BE49-F238E27FC236}">
                <a16:creationId xmlns:a16="http://schemas.microsoft.com/office/drawing/2014/main" id="{2C0DBC56-713F-4B01-9155-B9861F6378A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08061FF-B2B1-436F-A4B6-602146418343}"/>
              </a:ext>
            </a:extLst>
          </p:cNvPr>
          <p:cNvSpPr>
            <a:spLocks noGrp="1"/>
          </p:cNvSpPr>
          <p:nvPr>
            <p:ph type="sldNum" sz="quarter" idx="12"/>
          </p:nvPr>
        </p:nvSpPr>
        <p:spPr/>
        <p:txBody>
          <a:bodyPr/>
          <a:lstStyle/>
          <a:p>
            <a:fld id="{615F47F6-55ED-4C61-A1E2-5939A039B7C8}" type="slidenum">
              <a:rPr lang="en-IN" smtClean="0"/>
              <a:t>‹#›</a:t>
            </a:fld>
            <a:endParaRPr lang="en-IN"/>
          </a:p>
        </p:txBody>
      </p:sp>
    </p:spTree>
    <p:extLst>
      <p:ext uri="{BB962C8B-B14F-4D97-AF65-F5344CB8AC3E}">
        <p14:creationId xmlns:p14="http://schemas.microsoft.com/office/powerpoint/2010/main" val="33652080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A43634-22C1-470F-9D69-E3E9627D14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C1FAFEB-8D0B-4067-9A97-EDE79354BF5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71717B8-BBBC-4051-8BB1-4419E4EEBE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DB0D760F-72A5-4CF5-9D0D-83293C52DB50}"/>
              </a:ext>
            </a:extLst>
          </p:cNvPr>
          <p:cNvSpPr>
            <a:spLocks noGrp="1"/>
          </p:cNvSpPr>
          <p:nvPr>
            <p:ph type="dt" sz="half" idx="10"/>
          </p:nvPr>
        </p:nvSpPr>
        <p:spPr/>
        <p:txBody>
          <a:bodyPr/>
          <a:lstStyle/>
          <a:p>
            <a:fld id="{D24518FE-899A-40D9-864C-7AF592D865A9}" type="datetimeFigureOut">
              <a:rPr lang="en-IN" smtClean="0"/>
              <a:t>29-01-2018</a:t>
            </a:fld>
            <a:endParaRPr lang="en-IN"/>
          </a:p>
        </p:txBody>
      </p:sp>
      <p:sp>
        <p:nvSpPr>
          <p:cNvPr id="6" name="Footer Placeholder 5">
            <a:extLst>
              <a:ext uri="{FF2B5EF4-FFF2-40B4-BE49-F238E27FC236}">
                <a16:creationId xmlns:a16="http://schemas.microsoft.com/office/drawing/2014/main" id="{BB3605B8-81DE-4BC4-9E06-C4BF3D078CF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3C8DB52-A34E-4C8A-A330-0031F9D411D6}"/>
              </a:ext>
            </a:extLst>
          </p:cNvPr>
          <p:cNvSpPr>
            <a:spLocks noGrp="1"/>
          </p:cNvSpPr>
          <p:nvPr>
            <p:ph type="sldNum" sz="quarter" idx="12"/>
          </p:nvPr>
        </p:nvSpPr>
        <p:spPr/>
        <p:txBody>
          <a:bodyPr/>
          <a:lstStyle/>
          <a:p>
            <a:fld id="{615F47F6-55ED-4C61-A1E2-5939A039B7C8}" type="slidenum">
              <a:rPr lang="en-IN" smtClean="0"/>
              <a:t>‹#›</a:t>
            </a:fld>
            <a:endParaRPr lang="en-IN"/>
          </a:p>
        </p:txBody>
      </p:sp>
    </p:spTree>
    <p:extLst>
      <p:ext uri="{BB962C8B-B14F-4D97-AF65-F5344CB8AC3E}">
        <p14:creationId xmlns:p14="http://schemas.microsoft.com/office/powerpoint/2010/main" val="29593859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F6ED46-DEBD-472A-BC0F-0B5AE3998B4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502EB5F-597B-4E8B-A6F1-5C60185D8093}"/>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EA974D5-FCD8-4C2B-936D-0984608BAB13}"/>
              </a:ext>
            </a:extLst>
          </p:cNvPr>
          <p:cNvSpPr>
            <a:spLocks noGrp="1"/>
          </p:cNvSpPr>
          <p:nvPr>
            <p:ph type="dt" sz="half" idx="10"/>
          </p:nvPr>
        </p:nvSpPr>
        <p:spPr/>
        <p:txBody>
          <a:bodyPr/>
          <a:lstStyle/>
          <a:p>
            <a:fld id="{D24518FE-899A-40D9-864C-7AF592D865A9}" type="datetimeFigureOut">
              <a:rPr lang="en-IN" smtClean="0"/>
              <a:t>29-01-2018</a:t>
            </a:fld>
            <a:endParaRPr lang="en-IN"/>
          </a:p>
        </p:txBody>
      </p:sp>
      <p:sp>
        <p:nvSpPr>
          <p:cNvPr id="5" name="Footer Placeholder 4">
            <a:extLst>
              <a:ext uri="{FF2B5EF4-FFF2-40B4-BE49-F238E27FC236}">
                <a16:creationId xmlns:a16="http://schemas.microsoft.com/office/drawing/2014/main" id="{F26D99E0-0887-452F-9CDD-E0DE685A473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F407DDF-D50D-4AD7-A4BE-283714B4D362}"/>
              </a:ext>
            </a:extLst>
          </p:cNvPr>
          <p:cNvSpPr>
            <a:spLocks noGrp="1"/>
          </p:cNvSpPr>
          <p:nvPr>
            <p:ph type="sldNum" sz="quarter" idx="12"/>
          </p:nvPr>
        </p:nvSpPr>
        <p:spPr/>
        <p:txBody>
          <a:bodyPr/>
          <a:lstStyle/>
          <a:p>
            <a:fld id="{615F47F6-55ED-4C61-A1E2-5939A039B7C8}" type="slidenum">
              <a:rPr lang="en-IN" smtClean="0"/>
              <a:t>‹#›</a:t>
            </a:fld>
            <a:endParaRPr lang="en-IN"/>
          </a:p>
        </p:txBody>
      </p:sp>
    </p:spTree>
    <p:extLst>
      <p:ext uri="{BB962C8B-B14F-4D97-AF65-F5344CB8AC3E}">
        <p14:creationId xmlns:p14="http://schemas.microsoft.com/office/powerpoint/2010/main" val="38493190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E65925D-DF9F-4BB9-8C9F-3A6AB74800E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600DF7D-E010-43F5-AD3F-48ED49A91820}"/>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5B4EA11-C7DE-4CBD-B13C-57FD24A09683}"/>
              </a:ext>
            </a:extLst>
          </p:cNvPr>
          <p:cNvSpPr>
            <a:spLocks noGrp="1"/>
          </p:cNvSpPr>
          <p:nvPr>
            <p:ph type="dt" sz="half" idx="10"/>
          </p:nvPr>
        </p:nvSpPr>
        <p:spPr/>
        <p:txBody>
          <a:bodyPr/>
          <a:lstStyle/>
          <a:p>
            <a:fld id="{D24518FE-899A-40D9-864C-7AF592D865A9}" type="datetimeFigureOut">
              <a:rPr lang="en-IN" smtClean="0"/>
              <a:t>29-01-2018</a:t>
            </a:fld>
            <a:endParaRPr lang="en-IN"/>
          </a:p>
        </p:txBody>
      </p:sp>
      <p:sp>
        <p:nvSpPr>
          <p:cNvPr id="5" name="Footer Placeholder 4">
            <a:extLst>
              <a:ext uri="{FF2B5EF4-FFF2-40B4-BE49-F238E27FC236}">
                <a16:creationId xmlns:a16="http://schemas.microsoft.com/office/drawing/2014/main" id="{7174AF48-5393-43B8-98B1-828DCD333A6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B3AED2D-983B-409E-B9EA-0646494531CA}"/>
              </a:ext>
            </a:extLst>
          </p:cNvPr>
          <p:cNvSpPr>
            <a:spLocks noGrp="1"/>
          </p:cNvSpPr>
          <p:nvPr>
            <p:ph type="sldNum" sz="quarter" idx="12"/>
          </p:nvPr>
        </p:nvSpPr>
        <p:spPr/>
        <p:txBody>
          <a:bodyPr/>
          <a:lstStyle/>
          <a:p>
            <a:fld id="{615F47F6-55ED-4C61-A1E2-5939A039B7C8}" type="slidenum">
              <a:rPr lang="en-IN" smtClean="0"/>
              <a:t>‹#›</a:t>
            </a:fld>
            <a:endParaRPr lang="en-IN"/>
          </a:p>
        </p:txBody>
      </p:sp>
    </p:spTree>
    <p:extLst>
      <p:ext uri="{BB962C8B-B14F-4D97-AF65-F5344CB8AC3E}">
        <p14:creationId xmlns:p14="http://schemas.microsoft.com/office/powerpoint/2010/main" val="3162682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3F832FD-7C97-48DE-86FC-9243A289AAE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18B354D-97C6-479C-B423-18911AF997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9792050-69A4-48CB-AD11-AF2BF4A5B12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24518FE-899A-40D9-864C-7AF592D865A9}" type="datetimeFigureOut">
              <a:rPr lang="en-IN" smtClean="0"/>
              <a:t>29-01-2018</a:t>
            </a:fld>
            <a:endParaRPr lang="en-IN"/>
          </a:p>
        </p:txBody>
      </p:sp>
      <p:sp>
        <p:nvSpPr>
          <p:cNvPr id="5" name="Footer Placeholder 4">
            <a:extLst>
              <a:ext uri="{FF2B5EF4-FFF2-40B4-BE49-F238E27FC236}">
                <a16:creationId xmlns:a16="http://schemas.microsoft.com/office/drawing/2014/main" id="{148F57F5-702F-43CD-ACD2-5C70A82289A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E91AB42-DD42-4E14-8FE1-B021D95AB0B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5F47F6-55ED-4C61-A1E2-5939A039B7C8}" type="slidenum">
              <a:rPr lang="en-IN" smtClean="0"/>
              <a:t>‹#›</a:t>
            </a:fld>
            <a:endParaRPr lang="en-IN"/>
          </a:p>
        </p:txBody>
      </p:sp>
    </p:spTree>
    <p:extLst>
      <p:ext uri="{BB962C8B-B14F-4D97-AF65-F5344CB8AC3E}">
        <p14:creationId xmlns:p14="http://schemas.microsoft.com/office/powerpoint/2010/main" val="20298460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github.com/girishg4t/reactBoilerplate" TargetMode="External"/><Relationship Id="rId2" Type="http://schemas.openxmlformats.org/officeDocument/2006/relationships/hyperlink" Target="https://github.com/girishg4t/react-native-with-redux-sample"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5672DE-A86F-431B-BD30-77DEBF2209D6}"/>
              </a:ext>
            </a:extLst>
          </p:cNvPr>
          <p:cNvSpPr>
            <a:spLocks noGrp="1"/>
          </p:cNvSpPr>
          <p:nvPr>
            <p:ph type="ctrTitle"/>
          </p:nvPr>
        </p:nvSpPr>
        <p:spPr/>
        <p:txBody>
          <a:bodyPr/>
          <a:lstStyle/>
          <a:p>
            <a:r>
              <a:rPr lang="en-IN" dirty="0"/>
              <a:t>GETTING STARTED WITH REACT &amp; REDUX</a:t>
            </a:r>
          </a:p>
        </p:txBody>
      </p:sp>
      <p:sp>
        <p:nvSpPr>
          <p:cNvPr id="3" name="Subtitle 2">
            <a:extLst>
              <a:ext uri="{FF2B5EF4-FFF2-40B4-BE49-F238E27FC236}">
                <a16:creationId xmlns:a16="http://schemas.microsoft.com/office/drawing/2014/main" id="{EB7DB9C8-BBB8-463C-BA1D-743C69613264}"/>
              </a:ext>
            </a:extLst>
          </p:cNvPr>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11601698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D3615E-1F32-4C61-8D79-0FF60F06323E}"/>
              </a:ext>
            </a:extLst>
          </p:cNvPr>
          <p:cNvSpPr>
            <a:spLocks noGrp="1"/>
          </p:cNvSpPr>
          <p:nvPr>
            <p:ph type="title"/>
          </p:nvPr>
        </p:nvSpPr>
        <p:spPr/>
        <p:txBody>
          <a:bodyPr/>
          <a:lstStyle/>
          <a:p>
            <a:pPr algn="ctr"/>
            <a:r>
              <a:rPr lang="en-IN" b="1" dirty="0"/>
              <a:t>What is  React.js?</a:t>
            </a:r>
            <a:br>
              <a:rPr lang="en-IN" dirty="0"/>
            </a:br>
            <a:endParaRPr lang="en-IN" dirty="0"/>
          </a:p>
        </p:txBody>
      </p:sp>
      <p:sp>
        <p:nvSpPr>
          <p:cNvPr id="3" name="Content Placeholder 2">
            <a:extLst>
              <a:ext uri="{FF2B5EF4-FFF2-40B4-BE49-F238E27FC236}">
                <a16:creationId xmlns:a16="http://schemas.microsoft.com/office/drawing/2014/main" id="{3CBE119F-2B01-4C0E-B60E-361AF7EFEFE3}"/>
              </a:ext>
            </a:extLst>
          </p:cNvPr>
          <p:cNvSpPr>
            <a:spLocks noGrp="1"/>
          </p:cNvSpPr>
          <p:nvPr>
            <p:ph idx="1"/>
          </p:nvPr>
        </p:nvSpPr>
        <p:spPr/>
        <p:txBody>
          <a:bodyPr/>
          <a:lstStyle/>
          <a:p>
            <a:pPr marL="0" indent="0">
              <a:buNone/>
            </a:pPr>
            <a:endParaRPr lang="en-IN" dirty="0"/>
          </a:p>
          <a:p>
            <a:pPr hangingPunct="0"/>
            <a:r>
              <a:rPr lang="en-IN" dirty="0"/>
              <a:t>A JavaScript library for building user interfaces. </a:t>
            </a:r>
            <a:r>
              <a:rPr lang="en-IN" dirty="0" err="1"/>
              <a:t>Reactjs</a:t>
            </a:r>
            <a:r>
              <a:rPr lang="en-IN" dirty="0"/>
              <a:t> is created by the Facebook for the V of MVC by reusable and interactive UI components.</a:t>
            </a:r>
          </a:p>
          <a:p>
            <a:endParaRPr lang="en-IN" dirty="0"/>
          </a:p>
        </p:txBody>
      </p:sp>
    </p:spTree>
    <p:extLst>
      <p:ext uri="{BB962C8B-B14F-4D97-AF65-F5344CB8AC3E}">
        <p14:creationId xmlns:p14="http://schemas.microsoft.com/office/powerpoint/2010/main" val="42514076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D28F0F-982E-4290-A79B-C24F122D505A}"/>
              </a:ext>
            </a:extLst>
          </p:cNvPr>
          <p:cNvSpPr>
            <a:spLocks noGrp="1"/>
          </p:cNvSpPr>
          <p:nvPr>
            <p:ph type="title"/>
          </p:nvPr>
        </p:nvSpPr>
        <p:spPr/>
        <p:txBody>
          <a:bodyPr/>
          <a:lstStyle/>
          <a:p>
            <a:pPr algn="ctr"/>
            <a:r>
              <a:rPr lang="en-IN" dirty="0"/>
              <a:t>Why React.js?</a:t>
            </a:r>
            <a:br>
              <a:rPr lang="en-IN" dirty="0"/>
            </a:br>
            <a:endParaRPr lang="en-IN" dirty="0"/>
          </a:p>
        </p:txBody>
      </p:sp>
      <p:sp>
        <p:nvSpPr>
          <p:cNvPr id="3" name="Content Placeholder 2">
            <a:extLst>
              <a:ext uri="{FF2B5EF4-FFF2-40B4-BE49-F238E27FC236}">
                <a16:creationId xmlns:a16="http://schemas.microsoft.com/office/drawing/2014/main" id="{80DF57D6-F354-4259-A430-58B8AE841928}"/>
              </a:ext>
            </a:extLst>
          </p:cNvPr>
          <p:cNvSpPr>
            <a:spLocks noGrp="1"/>
          </p:cNvSpPr>
          <p:nvPr>
            <p:ph idx="1"/>
          </p:nvPr>
        </p:nvSpPr>
        <p:spPr>
          <a:xfrm>
            <a:off x="838200" y="1169580"/>
            <a:ext cx="10515600" cy="5422605"/>
          </a:xfrm>
        </p:spPr>
        <p:txBody>
          <a:bodyPr>
            <a:normAutofit fontScale="92500" lnSpcReduction="10000"/>
          </a:bodyPr>
          <a:lstStyle/>
          <a:p>
            <a:pPr lvl="0" hangingPunct="0"/>
            <a:r>
              <a:rPr lang="en-IN" b="1" dirty="0"/>
              <a:t>V(view) of MVC - </a:t>
            </a:r>
            <a:r>
              <a:rPr lang="en-IN" dirty="0"/>
              <a:t>Solution of View in MVC</a:t>
            </a:r>
          </a:p>
          <a:p>
            <a:pPr lvl="0" hangingPunct="0"/>
            <a:r>
              <a:rPr lang="en-IN" b="1" dirty="0"/>
              <a:t>Virtual DOM </a:t>
            </a:r>
            <a:r>
              <a:rPr lang="en-IN" dirty="0"/>
              <a:t>- </a:t>
            </a:r>
            <a:r>
              <a:rPr lang="en-IN" dirty="0" err="1"/>
              <a:t>Reactjs</a:t>
            </a:r>
            <a:r>
              <a:rPr lang="en-IN" dirty="0"/>
              <a:t> use the concept of virtual DOM which helps in the performance</a:t>
            </a:r>
          </a:p>
          <a:p>
            <a:pPr lvl="0" hangingPunct="0"/>
            <a:r>
              <a:rPr lang="en-IN" b="1" dirty="0"/>
              <a:t>Unidirectional Data Flow - </a:t>
            </a:r>
            <a:r>
              <a:rPr lang="en-IN" dirty="0"/>
              <a:t>Compare to the 2 way data binding. </a:t>
            </a:r>
            <a:r>
              <a:rPr lang="en-IN" dirty="0" err="1"/>
              <a:t>Reactjs</a:t>
            </a:r>
            <a:r>
              <a:rPr lang="en-IN" dirty="0"/>
              <a:t> use the concept of</a:t>
            </a:r>
            <a:r>
              <a:rPr lang="en-IN" b="1" dirty="0"/>
              <a:t> </a:t>
            </a:r>
            <a:r>
              <a:rPr lang="en-IN" dirty="0"/>
              <a:t>Unidirectional data flow which improve the over all performance.</a:t>
            </a:r>
          </a:p>
          <a:p>
            <a:pPr lvl="0" hangingPunct="0"/>
            <a:r>
              <a:rPr lang="en-IN" b="1" dirty="0"/>
              <a:t>UI Components - Reusable and interactive components</a:t>
            </a:r>
            <a:endParaRPr lang="en-IN" dirty="0"/>
          </a:p>
          <a:p>
            <a:pPr lvl="0" hangingPunct="0"/>
            <a:r>
              <a:rPr lang="en-IN" b="1" dirty="0"/>
              <a:t>SEO Friendly - </a:t>
            </a:r>
            <a:r>
              <a:rPr lang="en-IN" dirty="0"/>
              <a:t>Components are client side as well as server side render hence they are SEO</a:t>
            </a:r>
            <a:r>
              <a:rPr lang="en-IN" b="1" dirty="0"/>
              <a:t> </a:t>
            </a:r>
            <a:r>
              <a:rPr lang="en-IN" dirty="0"/>
              <a:t>friendly and no 3</a:t>
            </a:r>
            <a:r>
              <a:rPr lang="en-IN" baseline="30000" dirty="0"/>
              <a:t>rd</a:t>
            </a:r>
            <a:r>
              <a:rPr lang="en-IN" dirty="0"/>
              <a:t> party plugin required</a:t>
            </a:r>
          </a:p>
          <a:p>
            <a:pPr lvl="0" hangingPunct="0"/>
            <a:r>
              <a:rPr lang="en-IN" b="1" dirty="0"/>
              <a:t>Coding is simpler because of JSX</a:t>
            </a:r>
            <a:endParaRPr lang="en-IN" dirty="0"/>
          </a:p>
          <a:p>
            <a:pPr lvl="0" hangingPunct="0"/>
            <a:r>
              <a:rPr lang="en-IN" dirty="0" err="1"/>
              <a:t>Reactjs</a:t>
            </a:r>
            <a:r>
              <a:rPr lang="en-IN" dirty="0"/>
              <a:t> </a:t>
            </a:r>
            <a:r>
              <a:rPr lang="en-IN" b="1" dirty="0"/>
              <a:t>own debugger</a:t>
            </a:r>
            <a:endParaRPr lang="en-IN" dirty="0"/>
          </a:p>
          <a:p>
            <a:pPr lvl="0" hangingPunct="0"/>
            <a:r>
              <a:rPr lang="en-IN" dirty="0"/>
              <a:t>React Native is going to be </a:t>
            </a:r>
            <a:r>
              <a:rPr lang="en-IN" b="1" dirty="0"/>
              <a:t>next big thing</a:t>
            </a:r>
            <a:endParaRPr lang="en-IN" dirty="0"/>
          </a:p>
          <a:p>
            <a:pPr lvl="0" hangingPunct="0"/>
            <a:r>
              <a:rPr lang="en-IN" b="1" dirty="0"/>
              <a:t>Big minds </a:t>
            </a:r>
            <a:r>
              <a:rPr lang="en-IN" dirty="0"/>
              <a:t>are backing </a:t>
            </a:r>
            <a:r>
              <a:rPr lang="en-IN" dirty="0" err="1"/>
              <a:t>Reactjs</a:t>
            </a:r>
            <a:endParaRPr lang="en-IN" dirty="0"/>
          </a:p>
          <a:p>
            <a:endParaRPr lang="en-IN" dirty="0"/>
          </a:p>
        </p:txBody>
      </p:sp>
    </p:spTree>
    <p:extLst>
      <p:ext uri="{BB962C8B-B14F-4D97-AF65-F5344CB8AC3E}">
        <p14:creationId xmlns:p14="http://schemas.microsoft.com/office/powerpoint/2010/main" val="36387768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C2987-878E-44A5-AC15-4C45D58F7CEF}"/>
              </a:ext>
            </a:extLst>
          </p:cNvPr>
          <p:cNvSpPr>
            <a:spLocks noGrp="1"/>
          </p:cNvSpPr>
          <p:nvPr>
            <p:ph type="title"/>
          </p:nvPr>
        </p:nvSpPr>
        <p:spPr/>
        <p:txBody>
          <a:bodyPr/>
          <a:lstStyle/>
          <a:p>
            <a:pPr algn="ctr"/>
            <a:r>
              <a:rPr lang="en-IN" dirty="0"/>
              <a:t>Core Concept of </a:t>
            </a:r>
            <a:r>
              <a:rPr lang="en-IN" dirty="0" err="1"/>
              <a:t>Reactjs</a:t>
            </a:r>
            <a:br>
              <a:rPr lang="en-IN" dirty="0"/>
            </a:br>
            <a:endParaRPr lang="en-IN" dirty="0"/>
          </a:p>
        </p:txBody>
      </p:sp>
      <p:sp>
        <p:nvSpPr>
          <p:cNvPr id="8" name="Content Placeholder 7">
            <a:extLst>
              <a:ext uri="{FF2B5EF4-FFF2-40B4-BE49-F238E27FC236}">
                <a16:creationId xmlns:a16="http://schemas.microsoft.com/office/drawing/2014/main" id="{32CACDA5-38BE-4E4C-96E9-BF5E327462A2}"/>
              </a:ext>
            </a:extLst>
          </p:cNvPr>
          <p:cNvSpPr>
            <a:spLocks noGrp="1"/>
          </p:cNvSpPr>
          <p:nvPr>
            <p:ph idx="1"/>
          </p:nvPr>
        </p:nvSpPr>
        <p:spPr/>
        <p:txBody>
          <a:bodyPr/>
          <a:lstStyle/>
          <a:p>
            <a:r>
              <a:rPr lang="en-IN" dirty="0"/>
              <a:t>JSX</a:t>
            </a:r>
          </a:p>
          <a:p>
            <a:r>
              <a:rPr lang="en-IN" dirty="0"/>
              <a:t>Components</a:t>
            </a:r>
          </a:p>
          <a:p>
            <a:r>
              <a:rPr lang="en-IN" dirty="0"/>
              <a:t>Unidirectional dataflow</a:t>
            </a:r>
          </a:p>
          <a:p>
            <a:r>
              <a:rPr lang="en-IN" dirty="0"/>
              <a:t>Virtual DOM</a:t>
            </a:r>
          </a:p>
        </p:txBody>
      </p:sp>
    </p:spTree>
    <p:extLst>
      <p:ext uri="{BB962C8B-B14F-4D97-AF65-F5344CB8AC3E}">
        <p14:creationId xmlns:p14="http://schemas.microsoft.com/office/powerpoint/2010/main" val="34268406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D1A45-84FF-4567-A31B-E25E5FBA2907}"/>
              </a:ext>
            </a:extLst>
          </p:cNvPr>
          <p:cNvSpPr>
            <a:spLocks noGrp="1"/>
          </p:cNvSpPr>
          <p:nvPr>
            <p:ph type="title"/>
          </p:nvPr>
        </p:nvSpPr>
        <p:spPr/>
        <p:txBody>
          <a:bodyPr/>
          <a:lstStyle/>
          <a:p>
            <a:pPr algn="ctr"/>
            <a:r>
              <a:rPr lang="en-IN" dirty="0"/>
              <a:t>JSX</a:t>
            </a:r>
            <a:br>
              <a:rPr lang="en-IN" dirty="0"/>
            </a:br>
            <a:endParaRPr lang="en-IN" dirty="0"/>
          </a:p>
        </p:txBody>
      </p:sp>
      <p:sp>
        <p:nvSpPr>
          <p:cNvPr id="3" name="Content Placeholder 2">
            <a:extLst>
              <a:ext uri="{FF2B5EF4-FFF2-40B4-BE49-F238E27FC236}">
                <a16:creationId xmlns:a16="http://schemas.microsoft.com/office/drawing/2014/main" id="{ABB4F075-7F5F-44D3-B47A-1F5D644B76D7}"/>
              </a:ext>
            </a:extLst>
          </p:cNvPr>
          <p:cNvSpPr>
            <a:spLocks noGrp="1"/>
          </p:cNvSpPr>
          <p:nvPr>
            <p:ph idx="1"/>
          </p:nvPr>
        </p:nvSpPr>
        <p:spPr/>
        <p:txBody>
          <a:bodyPr/>
          <a:lstStyle/>
          <a:p>
            <a:pPr marL="0" indent="0" algn="ctr">
              <a:buNone/>
            </a:pPr>
            <a:r>
              <a:rPr lang="en-IN" dirty="0"/>
              <a:t>JSX - </a:t>
            </a:r>
            <a:r>
              <a:rPr lang="en-IN" dirty="0" err="1"/>
              <a:t>javascript</a:t>
            </a:r>
            <a:r>
              <a:rPr lang="en-IN" dirty="0"/>
              <a:t> XML syntax transform.</a:t>
            </a:r>
          </a:p>
          <a:p>
            <a:pPr marL="0" indent="0" algn="ctr">
              <a:buNone/>
            </a:pPr>
            <a:r>
              <a:rPr lang="en-IN" dirty="0"/>
              <a:t>It helps in making our writing code easier and faster. JSX lets us </a:t>
            </a:r>
            <a:r>
              <a:rPr lang="en-IN" dirty="0" err="1"/>
              <a:t>writeHTML</a:t>
            </a:r>
            <a:r>
              <a:rPr lang="en-IN" dirty="0"/>
              <a:t> (not 100%) with XML based object representation.</a:t>
            </a:r>
          </a:p>
          <a:p>
            <a:endParaRPr lang="en-IN" dirty="0"/>
          </a:p>
        </p:txBody>
      </p:sp>
    </p:spTree>
    <p:extLst>
      <p:ext uri="{BB962C8B-B14F-4D97-AF65-F5344CB8AC3E}">
        <p14:creationId xmlns:p14="http://schemas.microsoft.com/office/powerpoint/2010/main" val="38260270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3F20DD-2149-443B-9810-524B32585962}"/>
              </a:ext>
            </a:extLst>
          </p:cNvPr>
          <p:cNvSpPr>
            <a:spLocks noGrp="1"/>
          </p:cNvSpPr>
          <p:nvPr>
            <p:ph type="title"/>
          </p:nvPr>
        </p:nvSpPr>
        <p:spPr/>
        <p:txBody>
          <a:bodyPr/>
          <a:lstStyle/>
          <a:p>
            <a:pPr algn="ctr"/>
            <a:r>
              <a:rPr lang="en-IN" dirty="0"/>
              <a:t>Components</a:t>
            </a:r>
            <a:br>
              <a:rPr lang="en-IN" dirty="0"/>
            </a:br>
            <a:endParaRPr lang="en-IN" dirty="0"/>
          </a:p>
        </p:txBody>
      </p:sp>
      <p:sp>
        <p:nvSpPr>
          <p:cNvPr id="3" name="Content Placeholder 2">
            <a:extLst>
              <a:ext uri="{FF2B5EF4-FFF2-40B4-BE49-F238E27FC236}">
                <a16:creationId xmlns:a16="http://schemas.microsoft.com/office/drawing/2014/main" id="{71FC48E8-CA0D-4C7C-81C0-1E3DD91A7F8D}"/>
              </a:ext>
            </a:extLst>
          </p:cNvPr>
          <p:cNvSpPr>
            <a:spLocks noGrp="1"/>
          </p:cNvSpPr>
          <p:nvPr>
            <p:ph idx="1"/>
          </p:nvPr>
        </p:nvSpPr>
        <p:spPr/>
        <p:txBody>
          <a:bodyPr/>
          <a:lstStyle/>
          <a:p>
            <a:pPr marL="0" indent="0" algn="ctr" hangingPunct="0">
              <a:buNone/>
            </a:pPr>
            <a:r>
              <a:rPr lang="en-IN" dirty="0"/>
              <a:t>In </a:t>
            </a:r>
            <a:r>
              <a:rPr lang="en-IN" dirty="0" err="1"/>
              <a:t>Reactjs</a:t>
            </a:r>
            <a:r>
              <a:rPr lang="en-IN" dirty="0"/>
              <a:t> the whole application is break into the components. Components are interactive, reusable and </a:t>
            </a:r>
            <a:r>
              <a:rPr lang="en-IN" dirty="0" err="1"/>
              <a:t>stageful</a:t>
            </a:r>
            <a:r>
              <a:rPr lang="en-IN" dirty="0"/>
              <a:t> too.</a:t>
            </a:r>
          </a:p>
          <a:p>
            <a:pPr marL="0" indent="0" algn="ctr">
              <a:buNone/>
            </a:pPr>
            <a:endParaRPr lang="en-IN" dirty="0"/>
          </a:p>
        </p:txBody>
      </p:sp>
    </p:spTree>
    <p:extLst>
      <p:ext uri="{BB962C8B-B14F-4D97-AF65-F5344CB8AC3E}">
        <p14:creationId xmlns:p14="http://schemas.microsoft.com/office/powerpoint/2010/main" val="7362703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CE0C3-7379-4249-BE72-2C90EB552371}"/>
              </a:ext>
            </a:extLst>
          </p:cNvPr>
          <p:cNvSpPr>
            <a:spLocks noGrp="1"/>
          </p:cNvSpPr>
          <p:nvPr>
            <p:ph type="title"/>
          </p:nvPr>
        </p:nvSpPr>
        <p:spPr/>
        <p:txBody>
          <a:bodyPr/>
          <a:lstStyle/>
          <a:p>
            <a:pPr algn="ctr"/>
            <a:r>
              <a:rPr lang="en-IN" dirty="0"/>
              <a:t>Unidirectional Data Flow</a:t>
            </a:r>
            <a:br>
              <a:rPr lang="en-IN" dirty="0"/>
            </a:br>
            <a:endParaRPr lang="en-IN" dirty="0"/>
          </a:p>
        </p:txBody>
      </p:sp>
      <p:sp>
        <p:nvSpPr>
          <p:cNvPr id="3" name="Content Placeholder 2">
            <a:extLst>
              <a:ext uri="{FF2B5EF4-FFF2-40B4-BE49-F238E27FC236}">
                <a16:creationId xmlns:a16="http://schemas.microsoft.com/office/drawing/2014/main" id="{53D7C2A1-CBED-453D-B71D-BF3F3D96B400}"/>
              </a:ext>
            </a:extLst>
          </p:cNvPr>
          <p:cNvSpPr>
            <a:spLocks noGrp="1"/>
          </p:cNvSpPr>
          <p:nvPr>
            <p:ph idx="1"/>
          </p:nvPr>
        </p:nvSpPr>
        <p:spPr/>
        <p:txBody>
          <a:bodyPr/>
          <a:lstStyle/>
          <a:p>
            <a:pPr marL="0" indent="0">
              <a:buNone/>
            </a:pPr>
            <a:r>
              <a:rPr lang="en-IN" dirty="0"/>
              <a:t>- As compare to other MVC frameworks/Library </a:t>
            </a:r>
            <a:r>
              <a:rPr lang="en-IN" dirty="0" err="1"/>
              <a:t>Reactjs</a:t>
            </a:r>
            <a:r>
              <a:rPr lang="en-IN" dirty="0"/>
              <a:t> use the concept of unidirectional data flow.</a:t>
            </a:r>
          </a:p>
          <a:p>
            <a:pPr marL="0" indent="0">
              <a:buNone/>
            </a:pPr>
            <a:r>
              <a:rPr lang="en-IN" dirty="0"/>
              <a:t>- In </a:t>
            </a:r>
            <a:r>
              <a:rPr lang="en-IN" dirty="0" err="1"/>
              <a:t>Reactjs</a:t>
            </a:r>
            <a:r>
              <a:rPr lang="en-IN" dirty="0"/>
              <a:t> application the data flow from the parent to the children component by the state and the props.</a:t>
            </a:r>
          </a:p>
          <a:p>
            <a:pPr marL="0" indent="0">
              <a:buNone/>
            </a:pPr>
            <a:r>
              <a:rPr lang="en-IN" dirty="0"/>
              <a:t>- Only one parent is responsible to update the states and passing the value to the children components via props.</a:t>
            </a:r>
          </a:p>
          <a:p>
            <a:pPr marL="0" indent="0">
              <a:buNone/>
            </a:pPr>
            <a:r>
              <a:rPr lang="en-IN" dirty="0"/>
              <a:t>- </a:t>
            </a:r>
            <a:r>
              <a:rPr lang="en-IN" dirty="0" err="1"/>
              <a:t>setState</a:t>
            </a:r>
            <a:r>
              <a:rPr lang="en-IN" dirty="0"/>
              <a:t> is used to update/refresh the UI when the state change and the value can be pass to the children component by the </a:t>
            </a:r>
            <a:r>
              <a:rPr lang="en-IN" dirty="0" err="1"/>
              <a:t>this.props</a:t>
            </a:r>
            <a:endParaRPr lang="en-IN" dirty="0"/>
          </a:p>
          <a:p>
            <a:pPr marL="0" indent="0">
              <a:buNone/>
            </a:pPr>
            <a:endParaRPr lang="en-IN" dirty="0"/>
          </a:p>
        </p:txBody>
      </p:sp>
    </p:spTree>
    <p:extLst>
      <p:ext uri="{BB962C8B-B14F-4D97-AF65-F5344CB8AC3E}">
        <p14:creationId xmlns:p14="http://schemas.microsoft.com/office/powerpoint/2010/main" val="29726122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9ACED-4A65-4C91-AD33-1E33E30CA819}"/>
              </a:ext>
            </a:extLst>
          </p:cNvPr>
          <p:cNvSpPr>
            <a:spLocks noGrp="1"/>
          </p:cNvSpPr>
          <p:nvPr>
            <p:ph type="title"/>
          </p:nvPr>
        </p:nvSpPr>
        <p:spPr/>
        <p:txBody>
          <a:bodyPr/>
          <a:lstStyle/>
          <a:p>
            <a:pPr algn="ctr"/>
            <a:r>
              <a:rPr lang="en-IN" dirty="0"/>
              <a:t>Virtual DOM</a:t>
            </a:r>
            <a:br>
              <a:rPr lang="en-IN" dirty="0"/>
            </a:br>
            <a:endParaRPr lang="en-IN" dirty="0"/>
          </a:p>
        </p:txBody>
      </p:sp>
      <p:sp>
        <p:nvSpPr>
          <p:cNvPr id="3" name="Content Placeholder 2">
            <a:extLst>
              <a:ext uri="{FF2B5EF4-FFF2-40B4-BE49-F238E27FC236}">
                <a16:creationId xmlns:a16="http://schemas.microsoft.com/office/drawing/2014/main" id="{558F5EFB-1595-48DA-8355-8138FC618A55}"/>
              </a:ext>
            </a:extLst>
          </p:cNvPr>
          <p:cNvSpPr>
            <a:spLocks noGrp="1"/>
          </p:cNvSpPr>
          <p:nvPr>
            <p:ph idx="1"/>
          </p:nvPr>
        </p:nvSpPr>
        <p:spPr/>
        <p:txBody>
          <a:bodyPr>
            <a:normAutofit lnSpcReduction="10000"/>
          </a:bodyPr>
          <a:lstStyle/>
          <a:p>
            <a:pPr lvl="0" hangingPunct="0"/>
            <a:r>
              <a:rPr lang="en-IN" dirty="0" err="1"/>
              <a:t>Reactjs</a:t>
            </a:r>
            <a:r>
              <a:rPr lang="en-IN" dirty="0"/>
              <a:t> uses the concept of the virtual DOM.</a:t>
            </a:r>
          </a:p>
          <a:p>
            <a:pPr lvl="0" hangingPunct="0"/>
            <a:r>
              <a:rPr lang="en-IN" dirty="0"/>
              <a:t>It selectively render the subtree of DOM elements into the rendering of the DOM on state change</a:t>
            </a:r>
          </a:p>
          <a:p>
            <a:pPr lvl="0" hangingPunct="0"/>
            <a:r>
              <a:rPr lang="en-IN" dirty="0"/>
              <a:t>Use different algorithm with the browser DOM tree to identify the changes</a:t>
            </a:r>
          </a:p>
          <a:p>
            <a:pPr lvl="0" hangingPunct="0"/>
            <a:r>
              <a:rPr lang="en-IN" dirty="0"/>
              <a:t>Instead of creating new object, </a:t>
            </a:r>
            <a:r>
              <a:rPr lang="en-IN" dirty="0" err="1"/>
              <a:t>Reactjs</a:t>
            </a:r>
            <a:r>
              <a:rPr lang="en-IN" dirty="0"/>
              <a:t> just identify what change is took place and once identify update that state.</a:t>
            </a:r>
          </a:p>
          <a:p>
            <a:pPr lvl="0" hangingPunct="0"/>
            <a:r>
              <a:rPr lang="en-IN" dirty="0"/>
              <a:t>This way it is creating a virtual DOM and improving the performance too</a:t>
            </a:r>
          </a:p>
          <a:p>
            <a:pPr lvl="0" hangingPunct="0"/>
            <a:r>
              <a:rPr lang="en-IN" dirty="0"/>
              <a:t>Can be render on server and sync on Local</a:t>
            </a:r>
          </a:p>
          <a:p>
            <a:pPr marL="0" indent="0">
              <a:buNone/>
            </a:pPr>
            <a:endParaRPr lang="en-IN" dirty="0"/>
          </a:p>
        </p:txBody>
      </p:sp>
    </p:spTree>
    <p:extLst>
      <p:ext uri="{BB962C8B-B14F-4D97-AF65-F5344CB8AC3E}">
        <p14:creationId xmlns:p14="http://schemas.microsoft.com/office/powerpoint/2010/main" val="36011019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77D67-0528-4CAB-8369-38A52379B8D7}"/>
              </a:ext>
            </a:extLst>
          </p:cNvPr>
          <p:cNvSpPr>
            <a:spLocks noGrp="1"/>
          </p:cNvSpPr>
          <p:nvPr>
            <p:ph type="title"/>
          </p:nvPr>
        </p:nvSpPr>
        <p:spPr/>
        <p:txBody>
          <a:bodyPr/>
          <a:lstStyle/>
          <a:p>
            <a:pPr algn="ctr"/>
            <a:r>
              <a:rPr lang="en-IN" dirty="0"/>
              <a:t>Components</a:t>
            </a:r>
            <a:br>
              <a:rPr lang="en-IN" dirty="0"/>
            </a:br>
            <a:endParaRPr lang="en-IN" dirty="0"/>
          </a:p>
        </p:txBody>
      </p:sp>
      <p:sp>
        <p:nvSpPr>
          <p:cNvPr id="3" name="Content Placeholder 2">
            <a:extLst>
              <a:ext uri="{FF2B5EF4-FFF2-40B4-BE49-F238E27FC236}">
                <a16:creationId xmlns:a16="http://schemas.microsoft.com/office/drawing/2014/main" id="{0D067F02-3DCA-49B7-BED0-86061EB0A06B}"/>
              </a:ext>
            </a:extLst>
          </p:cNvPr>
          <p:cNvSpPr>
            <a:spLocks noGrp="1"/>
          </p:cNvSpPr>
          <p:nvPr>
            <p:ph idx="1"/>
          </p:nvPr>
        </p:nvSpPr>
        <p:spPr/>
        <p:txBody>
          <a:bodyPr/>
          <a:lstStyle/>
          <a:p>
            <a:pPr marL="0" lvl="0" indent="0" hangingPunct="0">
              <a:buNone/>
            </a:pPr>
            <a:r>
              <a:rPr lang="en-IN" dirty="0"/>
              <a:t>Everything in </a:t>
            </a:r>
            <a:r>
              <a:rPr lang="en-IN" dirty="0" err="1"/>
              <a:t>reactjs</a:t>
            </a:r>
            <a:r>
              <a:rPr lang="en-IN" dirty="0"/>
              <a:t> is components. The core building</a:t>
            </a:r>
          </a:p>
          <a:p>
            <a:pPr marL="0" indent="0" hangingPunct="0">
              <a:buNone/>
            </a:pPr>
            <a:r>
              <a:rPr lang="en-IN" dirty="0"/>
              <a:t>blocks of React application is components only.</a:t>
            </a:r>
          </a:p>
          <a:p>
            <a:pPr marL="0" indent="0">
              <a:buNone/>
            </a:pPr>
            <a:r>
              <a:rPr lang="en-IN" dirty="0"/>
              <a:t> </a:t>
            </a:r>
          </a:p>
          <a:p>
            <a:pPr marL="0" indent="0" hangingPunct="0">
              <a:buNone/>
            </a:pPr>
            <a:r>
              <a:rPr lang="en-IN" dirty="0"/>
              <a:t>Components interact with each other and maintain the state too. In </a:t>
            </a:r>
            <a:r>
              <a:rPr lang="en-IN" dirty="0" err="1"/>
              <a:t>Reactjs</a:t>
            </a:r>
            <a:r>
              <a:rPr lang="en-IN" dirty="0"/>
              <a:t> whole application is need to be break into the component only.</a:t>
            </a:r>
          </a:p>
          <a:p>
            <a:endParaRPr lang="en-IN" dirty="0"/>
          </a:p>
        </p:txBody>
      </p:sp>
    </p:spTree>
    <p:extLst>
      <p:ext uri="{BB962C8B-B14F-4D97-AF65-F5344CB8AC3E}">
        <p14:creationId xmlns:p14="http://schemas.microsoft.com/office/powerpoint/2010/main" val="38623436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724B8-BF41-45A3-9C49-042FC7816E19}"/>
              </a:ext>
            </a:extLst>
          </p:cNvPr>
          <p:cNvSpPr>
            <a:spLocks noGrp="1"/>
          </p:cNvSpPr>
          <p:nvPr>
            <p:ph type="title"/>
          </p:nvPr>
        </p:nvSpPr>
        <p:spPr/>
        <p:txBody>
          <a:bodyPr/>
          <a:lstStyle/>
          <a:p>
            <a:pPr algn="ctr"/>
            <a:r>
              <a:rPr lang="en-IN" dirty="0"/>
              <a:t>props</a:t>
            </a:r>
            <a:br>
              <a:rPr lang="en-IN" dirty="0"/>
            </a:br>
            <a:endParaRPr lang="en-IN" dirty="0"/>
          </a:p>
        </p:txBody>
      </p:sp>
      <p:sp>
        <p:nvSpPr>
          <p:cNvPr id="3" name="Content Placeholder 2">
            <a:extLst>
              <a:ext uri="{FF2B5EF4-FFF2-40B4-BE49-F238E27FC236}">
                <a16:creationId xmlns:a16="http://schemas.microsoft.com/office/drawing/2014/main" id="{60BEC323-F3CE-4417-B7DC-FC980BF62BF6}"/>
              </a:ext>
            </a:extLst>
          </p:cNvPr>
          <p:cNvSpPr>
            <a:spLocks noGrp="1"/>
          </p:cNvSpPr>
          <p:nvPr>
            <p:ph idx="1"/>
          </p:nvPr>
        </p:nvSpPr>
        <p:spPr/>
        <p:txBody>
          <a:bodyPr>
            <a:normAutofit/>
          </a:bodyPr>
          <a:lstStyle/>
          <a:p>
            <a:pPr hangingPunct="0"/>
            <a:r>
              <a:rPr lang="en-IN" dirty="0"/>
              <a:t>In </a:t>
            </a:r>
            <a:r>
              <a:rPr lang="en-IN" dirty="0" err="1"/>
              <a:t>Reactjs</a:t>
            </a:r>
            <a:r>
              <a:rPr lang="en-IN" dirty="0"/>
              <a:t> props are like the HTML Properties. They are used to pass the data between the components or via the states. In </a:t>
            </a:r>
            <a:r>
              <a:rPr lang="en-IN" dirty="0" err="1"/>
              <a:t>Reactjs</a:t>
            </a:r>
            <a:r>
              <a:rPr lang="en-IN" dirty="0"/>
              <a:t> the props can be accessed by </a:t>
            </a:r>
            <a:r>
              <a:rPr lang="en-IN" i="1" dirty="0" err="1"/>
              <a:t>this.props.propsname</a:t>
            </a:r>
            <a:endParaRPr lang="en-IN" sz="1200" dirty="0"/>
          </a:p>
          <a:p>
            <a:r>
              <a:rPr lang="en-IN" dirty="0"/>
              <a:t> Props can be define by name=“value”. To access this we have</a:t>
            </a:r>
            <a:r>
              <a:rPr lang="en-IN" sz="1100" dirty="0"/>
              <a:t>  </a:t>
            </a:r>
            <a:r>
              <a:rPr lang="en-IN" dirty="0"/>
              <a:t>to call this.props.name</a:t>
            </a:r>
            <a:endParaRPr lang="en-IN" sz="1200" dirty="0"/>
          </a:p>
          <a:p>
            <a:pPr marL="0" indent="0">
              <a:buNone/>
            </a:pPr>
            <a:endParaRPr lang="en-IN" dirty="0"/>
          </a:p>
        </p:txBody>
      </p:sp>
    </p:spTree>
    <p:extLst>
      <p:ext uri="{BB962C8B-B14F-4D97-AF65-F5344CB8AC3E}">
        <p14:creationId xmlns:p14="http://schemas.microsoft.com/office/powerpoint/2010/main" val="8766896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a:extLst>
              <a:ext uri="{FF2B5EF4-FFF2-40B4-BE49-F238E27FC236}">
                <a16:creationId xmlns:a16="http://schemas.microsoft.com/office/drawing/2014/main" id="{14DE7701-A00E-4097-9FA6-D48A54BDB2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944" y="153619"/>
            <a:ext cx="11472562" cy="61408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124299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5B6A55-776D-4074-9F5C-343A0486C93B}"/>
              </a:ext>
            </a:extLst>
          </p:cNvPr>
          <p:cNvSpPr>
            <a:spLocks noGrp="1"/>
          </p:cNvSpPr>
          <p:nvPr>
            <p:ph type="title"/>
          </p:nvPr>
        </p:nvSpPr>
        <p:spPr>
          <a:xfrm>
            <a:off x="838200" y="276447"/>
            <a:ext cx="10515600" cy="637953"/>
          </a:xfrm>
        </p:spPr>
        <p:txBody>
          <a:bodyPr>
            <a:normAutofit fontScale="90000"/>
          </a:bodyPr>
          <a:lstStyle/>
          <a:p>
            <a:pPr algn="ctr"/>
            <a:r>
              <a:rPr lang="en-IN" dirty="0"/>
              <a:t>states</a:t>
            </a:r>
          </a:p>
        </p:txBody>
      </p:sp>
      <p:sp>
        <p:nvSpPr>
          <p:cNvPr id="3" name="Content Placeholder 2">
            <a:extLst>
              <a:ext uri="{FF2B5EF4-FFF2-40B4-BE49-F238E27FC236}">
                <a16:creationId xmlns:a16="http://schemas.microsoft.com/office/drawing/2014/main" id="{B6ECF1E1-81B7-4988-A71D-EA6277549FFE}"/>
              </a:ext>
            </a:extLst>
          </p:cNvPr>
          <p:cNvSpPr>
            <a:spLocks noGrp="1"/>
          </p:cNvSpPr>
          <p:nvPr>
            <p:ph idx="1"/>
          </p:nvPr>
        </p:nvSpPr>
        <p:spPr>
          <a:xfrm>
            <a:off x="1008321" y="914400"/>
            <a:ext cx="10515600" cy="1257817"/>
          </a:xfrm>
        </p:spPr>
        <p:txBody>
          <a:bodyPr/>
          <a:lstStyle/>
          <a:p>
            <a:pPr marL="0" indent="0">
              <a:buNone/>
            </a:pPr>
            <a:r>
              <a:rPr lang="en-IN" dirty="0"/>
              <a:t>Every component has a State object. Can be set by using </a:t>
            </a:r>
            <a:r>
              <a:rPr lang="en-IN" dirty="0" err="1"/>
              <a:t>setState</a:t>
            </a:r>
            <a:r>
              <a:rPr lang="en-IN" dirty="0"/>
              <a:t>. </a:t>
            </a:r>
            <a:r>
              <a:rPr lang="en-IN" dirty="0" err="1"/>
              <a:t>setState</a:t>
            </a:r>
            <a:r>
              <a:rPr lang="en-IN" dirty="0"/>
              <a:t> triggers UI updates and to get the initial state before the </a:t>
            </a:r>
            <a:r>
              <a:rPr lang="en-IN" dirty="0" err="1"/>
              <a:t>setState</a:t>
            </a:r>
            <a:r>
              <a:rPr lang="en-IN" dirty="0"/>
              <a:t> : </a:t>
            </a:r>
            <a:r>
              <a:rPr lang="en-IN" dirty="0" err="1"/>
              <a:t>getInitialState.getDefaultProps</a:t>
            </a:r>
            <a:endParaRPr lang="en-IN" dirty="0"/>
          </a:p>
          <a:p>
            <a:pPr marL="0" indent="0">
              <a:buNone/>
            </a:pPr>
            <a:endParaRPr lang="en-IN" dirty="0"/>
          </a:p>
        </p:txBody>
      </p:sp>
      <p:pic>
        <p:nvPicPr>
          <p:cNvPr id="3074" name="Picture 2">
            <a:extLst>
              <a:ext uri="{FF2B5EF4-FFF2-40B4-BE49-F238E27FC236}">
                <a16:creationId xmlns:a16="http://schemas.microsoft.com/office/drawing/2014/main" id="{2CCC7F64-0D24-4BB1-A2D2-C294529167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2172217"/>
            <a:ext cx="10942674" cy="45444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595813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3EACE-E6B2-4A06-A570-72BE9EE47B27}"/>
              </a:ext>
            </a:extLst>
          </p:cNvPr>
          <p:cNvSpPr>
            <a:spLocks noGrp="1"/>
          </p:cNvSpPr>
          <p:nvPr>
            <p:ph type="title"/>
          </p:nvPr>
        </p:nvSpPr>
        <p:spPr/>
        <p:txBody>
          <a:bodyPr/>
          <a:lstStyle/>
          <a:p>
            <a:pPr algn="ctr"/>
            <a:r>
              <a:rPr lang="en-IN" dirty="0"/>
              <a:t>Component Lifecycle</a:t>
            </a:r>
            <a:br>
              <a:rPr lang="en-IN" dirty="0"/>
            </a:br>
            <a:endParaRPr lang="en-IN" dirty="0"/>
          </a:p>
        </p:txBody>
      </p:sp>
      <p:sp>
        <p:nvSpPr>
          <p:cNvPr id="3" name="Content Placeholder 2">
            <a:extLst>
              <a:ext uri="{FF2B5EF4-FFF2-40B4-BE49-F238E27FC236}">
                <a16:creationId xmlns:a16="http://schemas.microsoft.com/office/drawing/2014/main" id="{74090E59-2916-4C56-8181-671568843CAD}"/>
              </a:ext>
            </a:extLst>
          </p:cNvPr>
          <p:cNvSpPr>
            <a:spLocks noGrp="1"/>
          </p:cNvSpPr>
          <p:nvPr>
            <p:ph idx="1"/>
          </p:nvPr>
        </p:nvSpPr>
        <p:spPr/>
        <p:txBody>
          <a:bodyPr/>
          <a:lstStyle/>
          <a:p>
            <a:pPr lvl="0" hangingPunct="0"/>
            <a:r>
              <a:rPr lang="en-IN" dirty="0" err="1"/>
              <a:t>componentWillMount</a:t>
            </a:r>
            <a:r>
              <a:rPr lang="en-IN" dirty="0"/>
              <a:t> – Client and server side </a:t>
            </a:r>
            <a:r>
              <a:rPr lang="en-IN" dirty="0" err="1"/>
              <a:t>componenet</a:t>
            </a:r>
            <a:r>
              <a:rPr lang="en-IN" dirty="0"/>
              <a:t> Will Occur only once (before)</a:t>
            </a:r>
          </a:p>
          <a:p>
            <a:pPr lvl="0" hangingPunct="0"/>
            <a:r>
              <a:rPr lang="en-IN" dirty="0" err="1"/>
              <a:t>componentDidMount</a:t>
            </a:r>
            <a:r>
              <a:rPr lang="en-IN" dirty="0"/>
              <a:t> – Only once (after)</a:t>
            </a:r>
          </a:p>
          <a:p>
            <a:pPr lvl="0" hangingPunct="0"/>
            <a:r>
              <a:rPr lang="en-IN" dirty="0" err="1"/>
              <a:t>shouldComponentUpdate</a:t>
            </a:r>
            <a:r>
              <a:rPr lang="en-IN" dirty="0"/>
              <a:t> – Return value determines weather component should update</a:t>
            </a:r>
          </a:p>
          <a:p>
            <a:pPr lvl="0" hangingPunct="0"/>
            <a:r>
              <a:rPr lang="en-IN" dirty="0" err="1"/>
              <a:t>componentWillUnmount</a:t>
            </a:r>
            <a:r>
              <a:rPr lang="en-IN" dirty="0"/>
              <a:t> – Before unmounting component</a:t>
            </a:r>
          </a:p>
          <a:p>
            <a:endParaRPr lang="en-IN" dirty="0"/>
          </a:p>
        </p:txBody>
      </p:sp>
    </p:spTree>
    <p:extLst>
      <p:ext uri="{BB962C8B-B14F-4D97-AF65-F5344CB8AC3E}">
        <p14:creationId xmlns:p14="http://schemas.microsoft.com/office/powerpoint/2010/main" val="22067663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A8C4D-4465-4BAE-858F-24AE871E3A53}"/>
              </a:ext>
            </a:extLst>
          </p:cNvPr>
          <p:cNvSpPr>
            <a:spLocks noGrp="1"/>
          </p:cNvSpPr>
          <p:nvPr>
            <p:ph type="title"/>
          </p:nvPr>
        </p:nvSpPr>
        <p:spPr/>
        <p:txBody>
          <a:bodyPr/>
          <a:lstStyle/>
          <a:p>
            <a:pPr algn="ctr"/>
            <a:r>
              <a:rPr lang="en-IN" dirty="0"/>
              <a:t>Events</a:t>
            </a:r>
            <a:br>
              <a:rPr lang="en-IN" dirty="0"/>
            </a:br>
            <a:endParaRPr lang="en-IN" dirty="0"/>
          </a:p>
        </p:txBody>
      </p:sp>
      <p:sp>
        <p:nvSpPr>
          <p:cNvPr id="3" name="Content Placeholder 2">
            <a:extLst>
              <a:ext uri="{FF2B5EF4-FFF2-40B4-BE49-F238E27FC236}">
                <a16:creationId xmlns:a16="http://schemas.microsoft.com/office/drawing/2014/main" id="{5626AF28-FA8D-4AF9-9C8E-44E14C0B52D1}"/>
              </a:ext>
            </a:extLst>
          </p:cNvPr>
          <p:cNvSpPr>
            <a:spLocks noGrp="1"/>
          </p:cNvSpPr>
          <p:nvPr>
            <p:ph idx="1"/>
          </p:nvPr>
        </p:nvSpPr>
        <p:spPr/>
        <p:txBody>
          <a:bodyPr/>
          <a:lstStyle/>
          <a:p>
            <a:r>
              <a:rPr lang="en-IN" dirty="0" err="1"/>
              <a:t>Reactjs</a:t>
            </a:r>
            <a:r>
              <a:rPr lang="en-IN" dirty="0"/>
              <a:t> has the events that are attached with the components as the props of the components and can trigger methods.</a:t>
            </a:r>
          </a:p>
          <a:p>
            <a:endParaRPr lang="en-IN" dirty="0"/>
          </a:p>
        </p:txBody>
      </p:sp>
    </p:spTree>
    <p:extLst>
      <p:ext uri="{BB962C8B-B14F-4D97-AF65-F5344CB8AC3E}">
        <p14:creationId xmlns:p14="http://schemas.microsoft.com/office/powerpoint/2010/main" val="10946054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a:extLst>
              <a:ext uri="{FF2B5EF4-FFF2-40B4-BE49-F238E27FC236}">
                <a16:creationId xmlns:a16="http://schemas.microsoft.com/office/drawing/2014/main" id="{8F115E8A-62FA-4E68-898E-CC3FE98CA0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4268" y="137766"/>
            <a:ext cx="11832561" cy="6656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383176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F9E00-B9B8-4C95-AAC2-DEB920B07DD7}"/>
              </a:ext>
            </a:extLst>
          </p:cNvPr>
          <p:cNvSpPr>
            <a:spLocks noGrp="1"/>
          </p:cNvSpPr>
          <p:nvPr>
            <p:ph type="title"/>
          </p:nvPr>
        </p:nvSpPr>
        <p:spPr/>
        <p:txBody>
          <a:bodyPr/>
          <a:lstStyle/>
          <a:p>
            <a:pPr algn="ctr"/>
            <a:r>
              <a:rPr lang="en-IN" dirty="0"/>
              <a:t>Unidirectional Data Flow</a:t>
            </a:r>
            <a:br>
              <a:rPr lang="en-IN" dirty="0"/>
            </a:br>
            <a:endParaRPr lang="en-IN" dirty="0"/>
          </a:p>
        </p:txBody>
      </p:sp>
      <p:sp>
        <p:nvSpPr>
          <p:cNvPr id="3" name="Content Placeholder 2">
            <a:extLst>
              <a:ext uri="{FF2B5EF4-FFF2-40B4-BE49-F238E27FC236}">
                <a16:creationId xmlns:a16="http://schemas.microsoft.com/office/drawing/2014/main" id="{8EC90EBC-EFE9-40A6-98BD-12DC1C08FCF8}"/>
              </a:ext>
            </a:extLst>
          </p:cNvPr>
          <p:cNvSpPr>
            <a:spLocks noGrp="1"/>
          </p:cNvSpPr>
          <p:nvPr>
            <p:ph idx="1"/>
          </p:nvPr>
        </p:nvSpPr>
        <p:spPr/>
        <p:txBody>
          <a:bodyPr/>
          <a:lstStyle/>
          <a:p>
            <a:pPr lvl="0" hangingPunct="0"/>
            <a:r>
              <a:rPr lang="en-IN" dirty="0"/>
              <a:t>In </a:t>
            </a:r>
            <a:r>
              <a:rPr lang="en-IN" dirty="0" err="1"/>
              <a:t>reactjs</a:t>
            </a:r>
            <a:r>
              <a:rPr lang="en-IN" dirty="0"/>
              <a:t>, application data flows unidirectional via the state and props not like angular </a:t>
            </a:r>
            <a:r>
              <a:rPr lang="en-IN" dirty="0" err="1"/>
              <a:t>js</a:t>
            </a:r>
            <a:r>
              <a:rPr lang="en-IN" dirty="0"/>
              <a:t> where we have 2-way data binding. Which means in multiple component hierarchy , a common parent component should manage the state and pass it down the chain by props.</a:t>
            </a:r>
          </a:p>
          <a:p>
            <a:pPr lvl="0" hangingPunct="0"/>
            <a:r>
              <a:rPr lang="en-IN" dirty="0" err="1"/>
              <a:t>setState</a:t>
            </a:r>
            <a:r>
              <a:rPr lang="en-IN" dirty="0"/>
              <a:t> - state should be updated by </a:t>
            </a:r>
            <a:r>
              <a:rPr lang="en-IN" dirty="0" err="1"/>
              <a:t>setState</a:t>
            </a:r>
            <a:r>
              <a:rPr lang="en-IN" dirty="0"/>
              <a:t> to ensure UI will refresh/update</a:t>
            </a:r>
          </a:p>
          <a:p>
            <a:pPr lvl="0" hangingPunct="0"/>
            <a:r>
              <a:rPr lang="en-IN" dirty="0" err="1"/>
              <a:t>this.props</a:t>
            </a:r>
            <a:r>
              <a:rPr lang="en-IN" dirty="0"/>
              <a:t> – to pass the value to the child components</a:t>
            </a:r>
          </a:p>
          <a:p>
            <a:endParaRPr lang="en-IN" dirty="0"/>
          </a:p>
        </p:txBody>
      </p:sp>
    </p:spTree>
    <p:extLst>
      <p:ext uri="{BB962C8B-B14F-4D97-AF65-F5344CB8AC3E}">
        <p14:creationId xmlns:p14="http://schemas.microsoft.com/office/powerpoint/2010/main" val="30449695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30B52-EAAB-413F-8E1C-4C9903BA9140}"/>
              </a:ext>
            </a:extLst>
          </p:cNvPr>
          <p:cNvSpPr>
            <a:spLocks noGrp="1"/>
          </p:cNvSpPr>
          <p:nvPr>
            <p:ph type="title"/>
          </p:nvPr>
        </p:nvSpPr>
        <p:spPr/>
        <p:txBody>
          <a:bodyPr/>
          <a:lstStyle/>
          <a:p>
            <a:pPr algn="ctr"/>
            <a:r>
              <a:rPr lang="en-IN" dirty="0"/>
              <a:t>Redux</a:t>
            </a:r>
          </a:p>
        </p:txBody>
      </p:sp>
      <p:sp>
        <p:nvSpPr>
          <p:cNvPr id="3" name="Content Placeholder 2">
            <a:extLst>
              <a:ext uri="{FF2B5EF4-FFF2-40B4-BE49-F238E27FC236}">
                <a16:creationId xmlns:a16="http://schemas.microsoft.com/office/drawing/2014/main" id="{FEB797C4-F62F-45A7-9FEE-3EE36623BD8B}"/>
              </a:ext>
            </a:extLst>
          </p:cNvPr>
          <p:cNvSpPr>
            <a:spLocks noGrp="1"/>
          </p:cNvSpPr>
          <p:nvPr>
            <p:ph idx="1"/>
          </p:nvPr>
        </p:nvSpPr>
        <p:spPr/>
        <p:txBody>
          <a:bodyPr/>
          <a:lstStyle/>
          <a:p>
            <a:pPr marL="0" indent="0">
              <a:buNone/>
            </a:pPr>
            <a:r>
              <a:rPr lang="en-IN" dirty="0"/>
              <a:t>Data Flow :</a:t>
            </a:r>
          </a:p>
          <a:p>
            <a:r>
              <a:rPr lang="en-IN" dirty="0"/>
              <a:t>Redux architecture revolves around a </a:t>
            </a:r>
            <a:r>
              <a:rPr lang="en-IN" b="1" dirty="0"/>
              <a:t>strict unidirectional data flow</a:t>
            </a:r>
            <a:r>
              <a:rPr lang="en-IN" dirty="0"/>
              <a:t>.</a:t>
            </a:r>
          </a:p>
          <a:p>
            <a:r>
              <a:rPr lang="en-IN" dirty="0"/>
              <a:t>This means that all data in an application follows the same lifecycle pattern, making the logic of your app more predictable and easier to understand. It also encourages data normalization, so that you don't end up with multiple, independent copies of the same data that are unaware of one another.</a:t>
            </a:r>
          </a:p>
          <a:p>
            <a:pPr marL="0" indent="0">
              <a:buNone/>
            </a:pPr>
            <a:endParaRPr lang="en-IN" dirty="0"/>
          </a:p>
        </p:txBody>
      </p:sp>
    </p:spTree>
    <p:extLst>
      <p:ext uri="{BB962C8B-B14F-4D97-AF65-F5344CB8AC3E}">
        <p14:creationId xmlns:p14="http://schemas.microsoft.com/office/powerpoint/2010/main" val="2137623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807DD-4996-4939-B6DA-163585C85032}"/>
              </a:ext>
            </a:extLst>
          </p:cNvPr>
          <p:cNvSpPr>
            <a:spLocks noGrp="1"/>
          </p:cNvSpPr>
          <p:nvPr>
            <p:ph type="title"/>
          </p:nvPr>
        </p:nvSpPr>
        <p:spPr/>
        <p:txBody>
          <a:bodyPr/>
          <a:lstStyle/>
          <a:p>
            <a:pPr algn="ctr"/>
            <a:r>
              <a:rPr lang="en-IN" dirty="0"/>
              <a:t>Redux basic blocks</a:t>
            </a:r>
          </a:p>
        </p:txBody>
      </p:sp>
      <p:sp>
        <p:nvSpPr>
          <p:cNvPr id="3" name="Content Placeholder 2">
            <a:extLst>
              <a:ext uri="{FF2B5EF4-FFF2-40B4-BE49-F238E27FC236}">
                <a16:creationId xmlns:a16="http://schemas.microsoft.com/office/drawing/2014/main" id="{FA963604-A4DC-4D0C-A3C7-5EF869D022C8}"/>
              </a:ext>
            </a:extLst>
          </p:cNvPr>
          <p:cNvSpPr>
            <a:spLocks noGrp="1"/>
          </p:cNvSpPr>
          <p:nvPr>
            <p:ph idx="1"/>
          </p:nvPr>
        </p:nvSpPr>
        <p:spPr>
          <a:xfrm>
            <a:off x="838200" y="1378227"/>
            <a:ext cx="10515600" cy="3167270"/>
          </a:xfrm>
        </p:spPr>
        <p:txBody>
          <a:bodyPr>
            <a:normAutofit lnSpcReduction="10000"/>
          </a:bodyPr>
          <a:lstStyle/>
          <a:p>
            <a:pPr marL="0" indent="0">
              <a:buNone/>
            </a:pPr>
            <a:r>
              <a:rPr lang="en-IN" dirty="0"/>
              <a:t>The data lifecycle in any Redux app follows these 4 steps:</a:t>
            </a:r>
          </a:p>
          <a:p>
            <a:r>
              <a:rPr lang="en-IN" dirty="0"/>
              <a:t>You call </a:t>
            </a:r>
            <a:r>
              <a:rPr lang="en-IN" dirty="0" err="1"/>
              <a:t>store.dispatch</a:t>
            </a:r>
            <a:r>
              <a:rPr lang="en-IN" dirty="0"/>
              <a:t>(action).</a:t>
            </a:r>
          </a:p>
          <a:p>
            <a:r>
              <a:rPr lang="en-IN" dirty="0"/>
              <a:t>The Redux store calls the reducer function you gave it.</a:t>
            </a:r>
          </a:p>
          <a:p>
            <a:r>
              <a:rPr lang="en-IN" dirty="0"/>
              <a:t>The root reducer may combine the output of multiple reducers into a single state tree.</a:t>
            </a:r>
          </a:p>
          <a:p>
            <a:r>
              <a:rPr lang="en-IN" dirty="0"/>
              <a:t>The Redux store saves the complete state tree returned by the root reducer.</a:t>
            </a:r>
          </a:p>
          <a:p>
            <a:pPr marL="0" indent="0">
              <a:buNone/>
            </a:pPr>
            <a:endParaRPr lang="en-IN" dirty="0"/>
          </a:p>
          <a:p>
            <a:pPr marL="0" indent="0">
              <a:buNone/>
            </a:pPr>
            <a:endParaRPr lang="en-IN" dirty="0"/>
          </a:p>
        </p:txBody>
      </p:sp>
      <p:pic>
        <p:nvPicPr>
          <p:cNvPr id="5" name="Picture 4">
            <a:extLst>
              <a:ext uri="{FF2B5EF4-FFF2-40B4-BE49-F238E27FC236}">
                <a16:creationId xmlns:a16="http://schemas.microsoft.com/office/drawing/2014/main" id="{3652DB67-1333-410B-9520-AEA7F33EEBAA}"/>
              </a:ext>
            </a:extLst>
          </p:cNvPr>
          <p:cNvPicPr>
            <a:picLocks noChangeAspect="1"/>
          </p:cNvPicPr>
          <p:nvPr/>
        </p:nvPicPr>
        <p:blipFill>
          <a:blip r:embed="rId2"/>
          <a:stretch>
            <a:fillRect/>
          </a:stretch>
        </p:blipFill>
        <p:spPr>
          <a:xfrm>
            <a:off x="1131743" y="4545497"/>
            <a:ext cx="7600950" cy="1647825"/>
          </a:xfrm>
          <a:prstGeom prst="rect">
            <a:avLst/>
          </a:prstGeom>
        </p:spPr>
      </p:pic>
    </p:spTree>
    <p:extLst>
      <p:ext uri="{BB962C8B-B14F-4D97-AF65-F5344CB8AC3E}">
        <p14:creationId xmlns:p14="http://schemas.microsoft.com/office/powerpoint/2010/main" val="28982231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426139E-8219-4161-B03E-04FED31A8E64}"/>
              </a:ext>
            </a:extLst>
          </p:cNvPr>
          <p:cNvPicPr>
            <a:picLocks noChangeAspect="1"/>
          </p:cNvPicPr>
          <p:nvPr/>
        </p:nvPicPr>
        <p:blipFill>
          <a:blip r:embed="rId2"/>
          <a:stretch>
            <a:fillRect/>
          </a:stretch>
        </p:blipFill>
        <p:spPr>
          <a:xfrm>
            <a:off x="137246" y="132483"/>
            <a:ext cx="11902354" cy="6650635"/>
          </a:xfrm>
          <a:prstGeom prst="rect">
            <a:avLst/>
          </a:prstGeom>
        </p:spPr>
      </p:pic>
    </p:spTree>
    <p:extLst>
      <p:ext uri="{BB962C8B-B14F-4D97-AF65-F5344CB8AC3E}">
        <p14:creationId xmlns:p14="http://schemas.microsoft.com/office/powerpoint/2010/main" val="14929378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81C9AD-BB40-4FA6-8C71-A434854977DC}"/>
              </a:ext>
            </a:extLst>
          </p:cNvPr>
          <p:cNvSpPr>
            <a:spLocks noGrp="1"/>
          </p:cNvSpPr>
          <p:nvPr>
            <p:ph type="title"/>
          </p:nvPr>
        </p:nvSpPr>
        <p:spPr/>
        <p:txBody>
          <a:bodyPr/>
          <a:lstStyle/>
          <a:p>
            <a:pPr algn="ctr"/>
            <a:r>
              <a:rPr lang="en-IN" dirty="0"/>
              <a:t>Project link </a:t>
            </a:r>
          </a:p>
        </p:txBody>
      </p:sp>
      <p:sp>
        <p:nvSpPr>
          <p:cNvPr id="3" name="Content Placeholder 2">
            <a:extLst>
              <a:ext uri="{FF2B5EF4-FFF2-40B4-BE49-F238E27FC236}">
                <a16:creationId xmlns:a16="http://schemas.microsoft.com/office/drawing/2014/main" id="{E4E64AD9-0E2D-4E44-B129-CF5133F58939}"/>
              </a:ext>
            </a:extLst>
          </p:cNvPr>
          <p:cNvSpPr>
            <a:spLocks noGrp="1"/>
          </p:cNvSpPr>
          <p:nvPr>
            <p:ph idx="1"/>
          </p:nvPr>
        </p:nvSpPr>
        <p:spPr/>
        <p:txBody>
          <a:bodyPr/>
          <a:lstStyle/>
          <a:p>
            <a:r>
              <a:rPr lang="en-IN" dirty="0">
                <a:hlinkClick r:id="rId2"/>
              </a:rPr>
              <a:t>https://github.com/girishg4t/react-native-with-redux-sample</a:t>
            </a:r>
            <a:endParaRPr lang="en-IN" dirty="0"/>
          </a:p>
          <a:p>
            <a:r>
              <a:rPr lang="en-IN" dirty="0">
                <a:hlinkClick r:id="rId3"/>
              </a:rPr>
              <a:t>https://github.com/girishg4t/reactBoilerplate</a:t>
            </a:r>
            <a:endParaRPr lang="en-IN" dirty="0"/>
          </a:p>
          <a:p>
            <a:endParaRPr lang="en-IN" dirty="0"/>
          </a:p>
        </p:txBody>
      </p:sp>
    </p:spTree>
    <p:extLst>
      <p:ext uri="{BB962C8B-B14F-4D97-AF65-F5344CB8AC3E}">
        <p14:creationId xmlns:p14="http://schemas.microsoft.com/office/powerpoint/2010/main" val="13859451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D784B-0D2D-41B6-A843-EF709DD84340}"/>
              </a:ext>
            </a:extLst>
          </p:cNvPr>
          <p:cNvSpPr>
            <a:spLocks noGrp="1"/>
          </p:cNvSpPr>
          <p:nvPr>
            <p:ph type="title"/>
          </p:nvPr>
        </p:nvSpPr>
        <p:spPr/>
        <p:txBody>
          <a:bodyPr/>
          <a:lstStyle/>
          <a:p>
            <a:pPr algn="ctr"/>
            <a:r>
              <a:rPr lang="en-IN" dirty="0"/>
              <a:t>Configuration Local</a:t>
            </a:r>
          </a:p>
        </p:txBody>
      </p:sp>
      <p:sp>
        <p:nvSpPr>
          <p:cNvPr id="3" name="Content Placeholder 2">
            <a:extLst>
              <a:ext uri="{FF2B5EF4-FFF2-40B4-BE49-F238E27FC236}">
                <a16:creationId xmlns:a16="http://schemas.microsoft.com/office/drawing/2014/main" id="{881A122A-04C7-44E4-BE93-D087431B0971}"/>
              </a:ext>
            </a:extLst>
          </p:cNvPr>
          <p:cNvSpPr>
            <a:spLocks noGrp="1"/>
          </p:cNvSpPr>
          <p:nvPr>
            <p:ph idx="1"/>
          </p:nvPr>
        </p:nvSpPr>
        <p:spPr/>
        <p:txBody>
          <a:bodyPr/>
          <a:lstStyle/>
          <a:p>
            <a:r>
              <a:rPr lang="en-IN" dirty="0"/>
              <a:t>Local setup (https://facebook.github.io/react-native/docs/getting-started.html)</a:t>
            </a:r>
          </a:p>
          <a:p>
            <a:r>
              <a:rPr lang="en-IN" dirty="0"/>
              <a:t>Debugging </a:t>
            </a:r>
          </a:p>
          <a:p>
            <a:endParaRPr lang="en-IN" dirty="0"/>
          </a:p>
        </p:txBody>
      </p:sp>
    </p:spTree>
    <p:extLst>
      <p:ext uri="{BB962C8B-B14F-4D97-AF65-F5344CB8AC3E}">
        <p14:creationId xmlns:p14="http://schemas.microsoft.com/office/powerpoint/2010/main" val="20563612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A6B91-2422-44FF-844E-C4D98F63B7C0}"/>
              </a:ext>
            </a:extLst>
          </p:cNvPr>
          <p:cNvSpPr>
            <a:spLocks noGrp="1"/>
          </p:cNvSpPr>
          <p:nvPr>
            <p:ph type="title"/>
          </p:nvPr>
        </p:nvSpPr>
        <p:spPr>
          <a:xfrm>
            <a:off x="838200" y="365125"/>
            <a:ext cx="10515600" cy="5055014"/>
          </a:xfrm>
        </p:spPr>
        <p:txBody>
          <a:bodyPr/>
          <a:lstStyle/>
          <a:p>
            <a:pPr algn="ctr"/>
            <a:r>
              <a:rPr lang="en-IN" dirty="0"/>
              <a:t>Thanks</a:t>
            </a:r>
          </a:p>
        </p:txBody>
      </p:sp>
    </p:spTree>
    <p:extLst>
      <p:ext uri="{BB962C8B-B14F-4D97-AF65-F5344CB8AC3E}">
        <p14:creationId xmlns:p14="http://schemas.microsoft.com/office/powerpoint/2010/main" val="37340019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223</TotalTime>
  <Words>730</Words>
  <Application>Microsoft Office PowerPoint</Application>
  <PresentationFormat>Widescreen</PresentationFormat>
  <Paragraphs>74</Paragraphs>
  <Slides>22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Calibri Light</vt:lpstr>
      <vt:lpstr>Office Theme</vt:lpstr>
      <vt:lpstr>GETTING STARTED WITH REACT &amp; REDUX</vt:lpstr>
      <vt:lpstr>What is  React.js? </vt:lpstr>
      <vt:lpstr>Why React.js? </vt:lpstr>
      <vt:lpstr>Core Concept of Reactjs </vt:lpstr>
      <vt:lpstr>JSX </vt:lpstr>
      <vt:lpstr>Components </vt:lpstr>
      <vt:lpstr>Unidirectional Data Flow </vt:lpstr>
      <vt:lpstr>Virtual DOM </vt:lpstr>
      <vt:lpstr>Components </vt:lpstr>
      <vt:lpstr>props </vt:lpstr>
      <vt:lpstr>PowerPoint Presentation</vt:lpstr>
      <vt:lpstr>states</vt:lpstr>
      <vt:lpstr>Component Lifecycle </vt:lpstr>
      <vt:lpstr>Events </vt:lpstr>
      <vt:lpstr>PowerPoint Presentation</vt:lpstr>
      <vt:lpstr>Unidirectional Data Flow </vt:lpstr>
      <vt:lpstr>Redux</vt:lpstr>
      <vt:lpstr>Redux basic blocks</vt:lpstr>
      <vt:lpstr>PowerPoint Presentation</vt:lpstr>
      <vt:lpstr>Project link </vt:lpstr>
      <vt:lpstr>Configuration Local</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GETTING STARTED WITH REACT</dc:title>
  <dc:creator>Girish Talekar</dc:creator>
  <cp:lastModifiedBy>Girish Talekar</cp:lastModifiedBy>
  <cp:revision>8</cp:revision>
  <dcterms:created xsi:type="dcterms:W3CDTF">2018-01-28T14:57:03Z</dcterms:created>
  <dcterms:modified xsi:type="dcterms:W3CDTF">2018-01-29T07:18:19Z</dcterms:modified>
</cp:coreProperties>
</file>